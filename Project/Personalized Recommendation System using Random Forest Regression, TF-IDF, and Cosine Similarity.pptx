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1"/>
  </p:sldMasterIdLst>
  <p:sldIdLst>
    <p:sldId id="256" r:id="rId2"/>
    <p:sldId id="279" r:id="rId3"/>
    <p:sldId id="259" r:id="rId4"/>
    <p:sldId id="260" r:id="rId5"/>
    <p:sldId id="281" r:id="rId6"/>
    <p:sldId id="261" r:id="rId7"/>
    <p:sldId id="262" r:id="rId8"/>
    <p:sldId id="263" r:id="rId9"/>
    <p:sldId id="282" r:id="rId10"/>
    <p:sldId id="284" r:id="rId11"/>
    <p:sldId id="285" r:id="rId12"/>
    <p:sldId id="287" r:id="rId13"/>
    <p:sldId id="288" r:id="rId14"/>
    <p:sldId id="289" r:id="rId15"/>
    <p:sldId id="293" r:id="rId16"/>
    <p:sldId id="291" r:id="rId17"/>
    <p:sldId id="29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64" d="100"/>
          <a:sy n="64" d="100"/>
        </p:scale>
        <p:origin x="67"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C3E30-612B-9037-3FA3-73F22B4636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173BC6-3DAD-BAE6-2CF5-898416F35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D722AE-7584-C0E4-AC27-C4ABD074ECA9}"/>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D50F811B-5543-2A70-3A51-28A19269A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2706D3-2780-9FF7-D2F7-62A376872970}"/>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51146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0198D-69EF-9AC2-7261-29608FCC15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9280A2-2B28-2F1A-E805-8E88756054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12727-A03E-020E-D6F8-24200EEB01A2}"/>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14DE39D7-C974-F1AA-B167-21ED98AAF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27F17-5BA0-E88D-1919-08AEA0543ECB}"/>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42296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32FB-CB45-5CA1-8A5D-09E64EF1AB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65C72B-09D8-276E-E0AF-69F6BBE0EB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78A6E7-BA65-C181-790D-CECA038739EC}"/>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BBAE18C9-54A7-95CF-7911-92B2F043C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0F2793-584B-2552-8C02-F29D546B5224}"/>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41564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5D63-35F7-4E00-E96A-9E570F0F8B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0C367A-FEB5-7E8A-FD01-34CDDDB8DE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9C8778-DF91-CBE6-03A2-02D3FF5DB9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66607B-AD9C-2E73-16DC-8A2A3BF18E42}"/>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6" name="Footer Placeholder 5">
            <a:extLst>
              <a:ext uri="{FF2B5EF4-FFF2-40B4-BE49-F238E27FC236}">
                <a16:creationId xmlns:a16="http://schemas.microsoft.com/office/drawing/2014/main" id="{17C42CE4-A27B-31FD-FA3A-9ECE9F25A4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784675-408D-40E8-3847-2868747D2B95}"/>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493567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3900-A7B8-24AA-A135-A97EB44ACF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5914EE-C542-30CA-C0B4-82C940CA5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FD14D6-F83D-C9EF-C069-26C8E80FBA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DE4474-8AE3-1B75-1600-B58C7A4E6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10D2F7-5F76-7D27-F259-40C2E0FBE7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DDBA50-0B83-C4AC-CB7D-8BD94030E141}"/>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8" name="Footer Placeholder 7">
            <a:extLst>
              <a:ext uri="{FF2B5EF4-FFF2-40B4-BE49-F238E27FC236}">
                <a16:creationId xmlns:a16="http://schemas.microsoft.com/office/drawing/2014/main" id="{5FBAAC28-C16E-B550-E61A-D7CCB0BDDE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FAF7F3-9E49-4227-5B09-9827BD21C2AA}"/>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696119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D98D-E8A4-EC5E-0D82-44A07D4C91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3449DA-A04B-43F5-1581-CFF5E5CFFF18}"/>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4" name="Footer Placeholder 3">
            <a:extLst>
              <a:ext uri="{FF2B5EF4-FFF2-40B4-BE49-F238E27FC236}">
                <a16:creationId xmlns:a16="http://schemas.microsoft.com/office/drawing/2014/main" id="{18A823D0-B1DB-9FAE-4F6A-42CBCB909E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0B2148-A13F-A3C9-A72C-9225072207EE}"/>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56824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71180D-D7DE-CF1E-2C1C-2562A280622F}"/>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3" name="Footer Placeholder 2">
            <a:extLst>
              <a:ext uri="{FF2B5EF4-FFF2-40B4-BE49-F238E27FC236}">
                <a16:creationId xmlns:a16="http://schemas.microsoft.com/office/drawing/2014/main" id="{659E6EF4-E02E-1D38-4E2E-14A7B03AFD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698EFF-5F47-AB3A-C927-A04E801601E4}"/>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189883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0788A-4458-63F9-C308-8748A111AC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F5FF59-D285-D414-C30F-5BB8C0D85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AE9D04-B5BB-2584-E7B4-99123FC0E3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E8A5B-9411-B9B8-2CB3-0AEA777FCB4C}"/>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6" name="Footer Placeholder 5">
            <a:extLst>
              <a:ext uri="{FF2B5EF4-FFF2-40B4-BE49-F238E27FC236}">
                <a16:creationId xmlns:a16="http://schemas.microsoft.com/office/drawing/2014/main" id="{F9BA3368-7D3A-60FA-77F2-DB12E4CC31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3C84C-EB8F-1099-02AB-B576D2B7260D}"/>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742194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00E7-0D0B-08F2-C0EE-0C9AD97FF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022CD4-3CB9-6B9E-1527-95CB45A3DDE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91EF63-DDD0-900B-167E-1B28CAEBE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AC67F-B2F9-0186-2F39-D747FB2935BA}"/>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6" name="Footer Placeholder 5">
            <a:extLst>
              <a:ext uri="{FF2B5EF4-FFF2-40B4-BE49-F238E27FC236}">
                <a16:creationId xmlns:a16="http://schemas.microsoft.com/office/drawing/2014/main" id="{368139B8-1211-E6D3-14F3-CFCF5715C7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F96C9E-D435-4D37-45EC-6EA5653531C5}"/>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21100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E05D-440B-6D9A-64BD-89CFAEA298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7064AC-1780-6C70-AE0A-739C598EE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3EEB5C-3980-D7AB-3843-6CD39553CF01}"/>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389B3340-B222-2F53-F16B-CE3E452FA2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E5EF59-273B-8A3C-944E-FC5FA83704A0}"/>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745857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74A188-EAA9-9AF3-7A37-443787BFF0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5F8E2C-AAD3-F0AF-C54F-B1A655A0BD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BD3474-A010-6F4C-AA1B-180A15523BC3}"/>
              </a:ext>
            </a:extLst>
          </p:cNvPr>
          <p:cNvSpPr>
            <a:spLocks noGrp="1"/>
          </p:cNvSpPr>
          <p:nvPr>
            <p:ph type="dt" sz="half" idx="10"/>
          </p:nvPr>
        </p:nvSpPr>
        <p:spPr/>
        <p:txBody>
          <a:body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4E373E75-3551-02DD-DD51-2C17AF94DC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4F0B8-030E-8671-84C4-2D14F7C1AF24}"/>
              </a:ext>
            </a:extLst>
          </p:cNvPr>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57956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800A1-6AFC-5C4D-B448-8E473BAB73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CD0BA4-58AD-1DCC-1850-1803E7E5F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E028B6-8588-8CC7-7233-52AC3E96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95FDDF-42C6-42D4-9316-5DFE900840F9}" type="datetimeFigureOut">
              <a:rPr lang="en-IN" smtClean="0"/>
              <a:t>04-10-2026</a:t>
            </a:fld>
            <a:endParaRPr lang="en-IN"/>
          </a:p>
        </p:txBody>
      </p:sp>
      <p:sp>
        <p:nvSpPr>
          <p:cNvPr id="5" name="Footer Placeholder 4">
            <a:extLst>
              <a:ext uri="{FF2B5EF4-FFF2-40B4-BE49-F238E27FC236}">
                <a16:creationId xmlns:a16="http://schemas.microsoft.com/office/drawing/2014/main" id="{26880B8F-4CCA-400B-162D-3FAD5E4B4D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65B094-DA66-0B84-8C46-C57BBC23B0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4214212540"/>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90811" y="821589"/>
            <a:ext cx="7955279" cy="852085"/>
          </a:xfrm>
        </p:spPr>
        <p:txBody>
          <a:bodyPr>
            <a:noAutofit/>
          </a:bodyPr>
          <a:lstStyle/>
          <a:p>
            <a:r>
              <a:rPr lang="en-IN" sz="2800" b="1" dirty="0">
                <a:latin typeface="+mn-lt"/>
              </a:rPr>
              <a:t>Personalized Recommendation System using Random Forest Regression, TF-IDF, and Cosine Similarity.</a:t>
            </a:r>
          </a:p>
        </p:txBody>
      </p:sp>
      <p:sp>
        <p:nvSpPr>
          <p:cNvPr id="3" name="Subtitle 2"/>
          <p:cNvSpPr>
            <a:spLocks noGrp="1"/>
          </p:cNvSpPr>
          <p:nvPr>
            <p:ph type="subTitle" idx="1"/>
          </p:nvPr>
        </p:nvSpPr>
        <p:spPr>
          <a:xfrm>
            <a:off x="2497137" y="2084894"/>
            <a:ext cx="7197726" cy="4170607"/>
          </a:xfrm>
        </p:spPr>
        <p:txBody>
          <a:bodyPr>
            <a:normAutofit/>
          </a:bodyPr>
          <a:lstStyle/>
          <a:p>
            <a:pPr algn="ctr"/>
            <a:r>
              <a:rPr lang="en-US" dirty="0"/>
              <a:t>COURSE : Machine learning</a:t>
            </a:r>
          </a:p>
          <a:p>
            <a:pPr algn="ctr"/>
            <a:r>
              <a:rPr lang="en-US" dirty="0"/>
              <a:t>COURSE CODE: 25SC2107E</a:t>
            </a:r>
          </a:p>
          <a:p>
            <a:pPr algn="ctr"/>
            <a:r>
              <a:rPr lang="en-US" dirty="0"/>
              <a:t>SECTION: 4</a:t>
            </a:r>
          </a:p>
          <a:p>
            <a:pPr algn="ctr"/>
            <a:r>
              <a:rPr lang="en-US" dirty="0"/>
              <a:t>Branch: CSE</a:t>
            </a:r>
          </a:p>
          <a:p>
            <a:pPr algn="ctr"/>
            <a:r>
              <a:rPr lang="en-US" dirty="0"/>
              <a:t>GUIDED BY: JYOTHSNA DATTI(Assistant professor)</a:t>
            </a:r>
          </a:p>
          <a:p>
            <a:pPr algn="ctr"/>
            <a:r>
              <a:rPr lang="en-US" dirty="0"/>
              <a:t>2520030355  - Chalamalla </a:t>
            </a:r>
            <a:r>
              <a:rPr lang="en-US" dirty="0" err="1"/>
              <a:t>SurajReddy</a:t>
            </a:r>
            <a:endParaRPr lang="en-US" dirty="0"/>
          </a:p>
          <a:p>
            <a:pPr algn="ctr"/>
            <a:r>
              <a:rPr lang="en-US" dirty="0"/>
              <a:t>2520039319 – </a:t>
            </a:r>
            <a:r>
              <a:rPr lang="en-US" dirty="0" err="1"/>
              <a:t>Veernala</a:t>
            </a:r>
            <a:r>
              <a:rPr lang="en-US" dirty="0"/>
              <a:t> Chaithanya</a:t>
            </a:r>
          </a:p>
          <a:p>
            <a:pPr algn="ctr"/>
            <a:r>
              <a:rPr lang="en-US" dirty="0"/>
              <a:t>2026-2027</a:t>
            </a:r>
          </a:p>
        </p:txBody>
      </p:sp>
      <p:pic>
        <p:nvPicPr>
          <p:cNvPr id="4" name="Picture 3"/>
          <p:cNvPicPr>
            <a:picLocks noChangeAspect="1"/>
          </p:cNvPicPr>
          <p:nvPr/>
        </p:nvPicPr>
        <p:blipFill>
          <a:blip r:embed="rId2"/>
          <a:stretch>
            <a:fillRect/>
          </a:stretch>
        </p:blipFill>
        <p:spPr>
          <a:xfrm>
            <a:off x="0" y="-49161"/>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816076"/>
          </a:xfrm>
        </p:spPr>
        <p:txBody>
          <a:bodyPr/>
          <a:lstStyle/>
          <a:p>
            <a:pPr algn="ctr"/>
            <a:r>
              <a:rPr lang="en-US" b="1" dirty="0">
                <a:latin typeface="+mn-lt"/>
              </a:rPr>
              <a:t>CONTENTS</a:t>
            </a:r>
            <a:endParaRPr lang="en-IN" b="1" dirty="0">
              <a:latin typeface="+mn-lt"/>
            </a:endParaRPr>
          </a:p>
        </p:txBody>
      </p:sp>
      <p:sp>
        <p:nvSpPr>
          <p:cNvPr id="3" name="Content Placeholder 2"/>
          <p:cNvSpPr>
            <a:spLocks noGrp="1"/>
          </p:cNvSpPr>
          <p:nvPr>
            <p:ph idx="1"/>
          </p:nvPr>
        </p:nvSpPr>
        <p:spPr>
          <a:xfrm>
            <a:off x="685801" y="1229033"/>
            <a:ext cx="10131425" cy="4562168"/>
          </a:xfrm>
        </p:spPr>
        <p:txBody>
          <a:bodyPr>
            <a:normAutofit fontScale="77500" lnSpcReduction="20000"/>
          </a:bodyPr>
          <a:lstStyle/>
          <a:p>
            <a:r>
              <a:rPr lang="en-US" dirty="0"/>
              <a:t>ABSTRACT </a:t>
            </a:r>
          </a:p>
          <a:p>
            <a:r>
              <a:rPr lang="en-US" dirty="0"/>
              <a:t>INTRODUCTION </a:t>
            </a:r>
          </a:p>
          <a:p>
            <a:r>
              <a:rPr lang="en-US" dirty="0"/>
              <a:t>REQUIREMENT ANALYSIS</a:t>
            </a:r>
          </a:p>
          <a:p>
            <a:r>
              <a:rPr lang="en-US" dirty="0"/>
              <a:t>20 LITERATURE PAPERS IN TABLE FORMAT </a:t>
            </a:r>
          </a:p>
          <a:p>
            <a:r>
              <a:rPr lang="en-US" dirty="0"/>
              <a:t>DATASET DESCRIPTION </a:t>
            </a:r>
          </a:p>
          <a:p>
            <a:r>
              <a:rPr lang="en-US" dirty="0"/>
              <a:t>PROBLEM STATEMENT AND OBJECTIVE </a:t>
            </a:r>
          </a:p>
          <a:p>
            <a:r>
              <a:rPr lang="en-US" dirty="0"/>
              <a:t>METHODOLOGY</a:t>
            </a:r>
          </a:p>
          <a:p>
            <a:r>
              <a:rPr lang="en-US" dirty="0"/>
              <a:t>RESULTS – COMPARISON TABLES WITH PRECISION,RECALL,F1 SCORE,ACCURACY</a:t>
            </a:r>
          </a:p>
          <a:p>
            <a:r>
              <a:rPr lang="en-US" dirty="0"/>
              <a:t>RESULTS – GRAPHS</a:t>
            </a:r>
          </a:p>
          <a:p>
            <a:r>
              <a:rPr lang="en-US" dirty="0"/>
              <a:t>DISCUSSION</a:t>
            </a:r>
          </a:p>
          <a:p>
            <a:r>
              <a:rPr lang="en-US" dirty="0"/>
              <a:t>CONCLUSION</a:t>
            </a:r>
          </a:p>
          <a:p>
            <a:r>
              <a:rPr lang="en-US" dirty="0"/>
              <a:t>FUTURE SCOPE</a:t>
            </a:r>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b="1" dirty="0">
                <a:latin typeface="+mn-lt"/>
              </a:rPr>
              <a:t>ABSTRACT</a:t>
            </a:r>
            <a:endParaRPr lang="en-IN" b="1" dirty="0">
              <a:latin typeface="+mn-lt"/>
            </a:endParaRPr>
          </a:p>
        </p:txBody>
      </p:sp>
      <p:sp>
        <p:nvSpPr>
          <p:cNvPr id="3" name="Content Placeholder 2"/>
          <p:cNvSpPr>
            <a:spLocks noGrp="1"/>
          </p:cNvSpPr>
          <p:nvPr>
            <p:ph idx="1"/>
          </p:nvPr>
        </p:nvSpPr>
        <p:spPr>
          <a:xfrm>
            <a:off x="928869" y="1046377"/>
            <a:ext cx="10131425" cy="4837065"/>
          </a:xfrm>
        </p:spPr>
        <p:txBody>
          <a:bodyPr>
            <a:normAutofit fontScale="55000" lnSpcReduction="20000"/>
          </a:bodyPr>
          <a:lstStyle/>
          <a:p>
            <a:pPr marL="0" indent="0">
              <a:buNone/>
            </a:pPr>
            <a:endParaRPr lang="en-IN" b="1" dirty="0"/>
          </a:p>
          <a:p>
            <a:r>
              <a:rPr lang="en-IN" sz="3300" dirty="0"/>
              <a:t>The </a:t>
            </a:r>
            <a:r>
              <a:rPr lang="en-IN" sz="3300" b="1" dirty="0"/>
              <a:t>Personalized Machine Learning Based Recommendation System for Intelligent User Preference Prediction</a:t>
            </a:r>
            <a:r>
              <a:rPr lang="en-IN" sz="3300" dirty="0"/>
              <a:t> is an intelligent recommendation system designed to provide personalized movie recommendations based on individual user preferences. Traditional recommendation systems often depend on popularity or basic similarity, which may not accurately reflect the unique interests of each user. This project addresses this limitation by combining content-based recommendation techniques with machine learning.</a:t>
            </a:r>
          </a:p>
          <a:p>
            <a:r>
              <a:rPr lang="en-IN" sz="3300" dirty="0"/>
              <a:t>The system uses the </a:t>
            </a:r>
            <a:r>
              <a:rPr lang="en-IN" sz="3300" b="1" dirty="0" err="1"/>
              <a:t>MovieLens</a:t>
            </a:r>
            <a:r>
              <a:rPr lang="en-IN" sz="3300" b="1" dirty="0"/>
              <a:t> dataset</a:t>
            </a:r>
            <a:r>
              <a:rPr lang="en-IN" sz="3300" dirty="0"/>
              <a:t>, which contains movie information and historical user ratings. The data is first </a:t>
            </a:r>
            <a:r>
              <a:rPr lang="en-IN" sz="3300" dirty="0" err="1"/>
              <a:t>preprocessed</a:t>
            </a:r>
            <a:r>
              <a:rPr lang="en-IN" sz="3300" dirty="0"/>
              <a:t> and </a:t>
            </a:r>
            <a:r>
              <a:rPr lang="en-IN" sz="3300" dirty="0" err="1"/>
              <a:t>analyzed</a:t>
            </a:r>
            <a:r>
              <a:rPr lang="en-IN" sz="3300" dirty="0"/>
              <a:t> using </a:t>
            </a:r>
            <a:r>
              <a:rPr lang="en-IN" sz="3300" b="1" dirty="0"/>
              <a:t>Exploratory Data Analysis (EDA)</a:t>
            </a:r>
            <a:r>
              <a:rPr lang="en-IN" sz="3300" dirty="0"/>
              <a:t> to identify user rating patterns, movie popularity, and genre preferences. </a:t>
            </a:r>
            <a:r>
              <a:rPr lang="en-IN" sz="3300" b="1" dirty="0"/>
              <a:t>TF-IDF (Term Frequency–Inverse Document Frequency)</a:t>
            </a:r>
            <a:r>
              <a:rPr lang="en-IN" sz="3300" dirty="0"/>
              <a:t> is used to convert movie genre information into numerical features, while </a:t>
            </a:r>
            <a:r>
              <a:rPr lang="en-IN" sz="3300" b="1" dirty="0"/>
              <a:t>Cosine Similarity</a:t>
            </a:r>
            <a:r>
              <a:rPr lang="en-IN" sz="3300" dirty="0"/>
              <a:t> is applied to identify similarities between movies.</a:t>
            </a:r>
          </a:p>
          <a:p>
            <a:r>
              <a:rPr lang="en-IN" sz="3300" dirty="0"/>
              <a:t>For intelligent preference prediction, the system uses </a:t>
            </a:r>
            <a:r>
              <a:rPr lang="en-IN" sz="3300" b="1" dirty="0"/>
              <a:t>Random Forest Regression</a:t>
            </a:r>
            <a:r>
              <a:rPr lang="en-IN" sz="3300" dirty="0"/>
              <a:t> with user and movie features such as average ratings and rating counts. The model predicts the user's potential preference for unseen movies. These predicted preference scores are then ranked to generate personalized </a:t>
            </a:r>
            <a:r>
              <a:rPr lang="en-IN" sz="3300" b="1" dirty="0"/>
              <a:t>Top-N movie recommendations</a:t>
            </a:r>
            <a:r>
              <a:rPr lang="en-IN" sz="3300" dirty="0"/>
              <a:t>.</a:t>
            </a:r>
          </a:p>
          <a:p>
            <a:r>
              <a:rPr lang="en-IN" sz="3300" dirty="0"/>
              <a:t>The proposed system provides a flexible foundation for intelligent recommendation and can be further enhanced using hybrid recommendation techniques, deep learning, real-time user feedback, and explainable artificial intelligence. The project demonstrates how machine learning and content-based techniques can be integrated to improve personalized recommendation and user experience.</a:t>
            </a:r>
          </a:p>
        </p:txBody>
      </p:sp>
    </p:spTree>
    <p:extLst>
      <p:ext uri="{BB962C8B-B14F-4D97-AF65-F5344CB8AC3E}">
        <p14:creationId xmlns:p14="http://schemas.microsoft.com/office/powerpoint/2010/main" val="422128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normAutofit fontScale="90000"/>
          </a:bodyPr>
          <a:lstStyle/>
          <a:p>
            <a:pPr algn="ctr"/>
            <a:r>
              <a:rPr lang="en-US" b="1" dirty="0">
                <a:latin typeface="+mn-lt"/>
              </a:rPr>
              <a:t>INTRODUCTION</a:t>
            </a:r>
            <a:endParaRPr lang="en-IN" b="1" dirty="0">
              <a:latin typeface="+mn-lt"/>
            </a:endParaRPr>
          </a:p>
        </p:txBody>
      </p:sp>
      <p:sp>
        <p:nvSpPr>
          <p:cNvPr id="3" name="Content Placeholder 2"/>
          <p:cNvSpPr>
            <a:spLocks noGrp="1"/>
          </p:cNvSpPr>
          <p:nvPr>
            <p:ph idx="1"/>
          </p:nvPr>
        </p:nvSpPr>
        <p:spPr>
          <a:xfrm>
            <a:off x="846056" y="685800"/>
            <a:ext cx="10131425" cy="5666873"/>
          </a:xfrm>
        </p:spPr>
        <p:txBody>
          <a:bodyPr>
            <a:normAutofit fontScale="62500" lnSpcReduction="20000"/>
          </a:bodyPr>
          <a:lstStyle/>
          <a:p>
            <a:pPr marL="0" indent="0">
              <a:buNone/>
            </a:pPr>
            <a:endParaRPr lang="en-IN" b="1" dirty="0"/>
          </a:p>
          <a:p>
            <a:r>
              <a:rPr lang="en-IN" dirty="0"/>
              <a:t>With the rapid growth of digital platforms, users are presented with a large number of movies and other forms of content, making it difficult to identify items that match their individual interests. Traditional recommendation systems often rely on popularity or basic similarity, which may provide the same recommendations to many users and may not effectively capture their personal preferences.</a:t>
            </a:r>
          </a:p>
          <a:p>
            <a:r>
              <a:rPr lang="en-IN" dirty="0"/>
              <a:t>The </a:t>
            </a:r>
            <a:r>
              <a:rPr lang="en-IN" b="1" dirty="0"/>
              <a:t>Personalized Machine Learning Based Recommendation System for Intelligent User Preference Prediction</a:t>
            </a:r>
            <a:r>
              <a:rPr lang="en-IN" dirty="0"/>
              <a:t> aims to overcome this limitation by using machine learning and content-based techniques to generate recommendations according to individual user interests. The system </a:t>
            </a:r>
            <a:r>
              <a:rPr lang="en-IN" dirty="0" err="1"/>
              <a:t>analyzes</a:t>
            </a:r>
            <a:r>
              <a:rPr lang="en-IN" dirty="0"/>
              <a:t> historical user ratings and movie information to understand the relationship between users and movies.</a:t>
            </a:r>
          </a:p>
          <a:p>
            <a:r>
              <a:rPr lang="en-IN" dirty="0"/>
              <a:t>The project uses the </a:t>
            </a:r>
            <a:r>
              <a:rPr lang="en-IN" b="1" dirty="0" err="1"/>
              <a:t>MovieLens</a:t>
            </a:r>
            <a:r>
              <a:rPr lang="en-IN" b="1" dirty="0"/>
              <a:t> dataset</a:t>
            </a:r>
            <a:r>
              <a:rPr lang="en-IN" dirty="0"/>
              <a:t>, containing movie metadata and user-rating information. The data is processed through data cleaning and </a:t>
            </a:r>
            <a:r>
              <a:rPr lang="en-IN" b="1" dirty="0"/>
              <a:t>Exploratory Data Analysis (EDA)</a:t>
            </a:r>
            <a:r>
              <a:rPr lang="en-IN" dirty="0"/>
              <a:t> to identify rating patterns, user activity, movie popularity, and genre preferences. </a:t>
            </a:r>
            <a:r>
              <a:rPr lang="en-IN" b="1" dirty="0"/>
              <a:t>TF-IDF</a:t>
            </a:r>
            <a:r>
              <a:rPr lang="en-IN" dirty="0"/>
              <a:t> is used to represent movie genre information as numerical features, while </a:t>
            </a:r>
            <a:r>
              <a:rPr lang="en-IN" b="1" dirty="0"/>
              <a:t>Cosine Similarity</a:t>
            </a:r>
            <a:r>
              <a:rPr lang="en-IN" dirty="0"/>
              <a:t> identifies movies with similar content.</a:t>
            </a:r>
          </a:p>
          <a:p>
            <a:r>
              <a:rPr lang="en-IN" dirty="0"/>
              <a:t>In addition, </a:t>
            </a:r>
            <a:r>
              <a:rPr lang="en-IN" b="1" dirty="0"/>
              <a:t>Random Forest Regression</a:t>
            </a:r>
            <a:r>
              <a:rPr lang="en-IN" dirty="0"/>
              <a:t> is used as the primary machine-learning algorithm to predict a user's potential preference for movies based on user and movie-related features. The predicted preference scores are then used to rank candidate movies and generate personalized </a:t>
            </a:r>
            <a:r>
              <a:rPr lang="en-IN" b="1" dirty="0"/>
              <a:t>Top-N recommendations</a:t>
            </a:r>
            <a:r>
              <a:rPr lang="en-IN" dirty="0"/>
              <a:t>.</a:t>
            </a:r>
          </a:p>
          <a:p>
            <a:r>
              <a:rPr lang="en-IN" dirty="0"/>
              <a:t>The proposed system demonstrates how machine learning, content analysis, and recommendation techniques can be integrated to create a more intelligent and personalized recommendation experience. The system can be further extended using hybrid recommendation methods, deep learning, real-time feedback, and explainable AI.</a:t>
            </a:r>
          </a:p>
        </p:txBody>
      </p:sp>
    </p:spTree>
    <p:extLst>
      <p:ext uri="{BB962C8B-B14F-4D97-AF65-F5344CB8AC3E}">
        <p14:creationId xmlns:p14="http://schemas.microsoft.com/office/powerpoint/2010/main" val="283191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88" y="0"/>
            <a:ext cx="10131425" cy="609600"/>
          </a:xfrm>
        </p:spPr>
        <p:txBody>
          <a:bodyPr>
            <a:normAutofit fontScale="90000"/>
          </a:bodyPr>
          <a:lstStyle/>
          <a:p>
            <a:pPr algn="ctr"/>
            <a:r>
              <a:rPr lang="en-US" b="1" dirty="0">
                <a:latin typeface="+mn-lt"/>
              </a:rPr>
              <a:t>REQUIREMENT ANALYSIS </a:t>
            </a:r>
            <a:endParaRPr lang="en-IN" b="1" dirty="0">
              <a:latin typeface="+mn-lt"/>
            </a:endParaRPr>
          </a:p>
        </p:txBody>
      </p:sp>
      <p:pic>
        <p:nvPicPr>
          <p:cNvPr id="5" name="Content Placeholder 4">
            <a:extLst>
              <a:ext uri="{FF2B5EF4-FFF2-40B4-BE49-F238E27FC236}">
                <a16:creationId xmlns:a16="http://schemas.microsoft.com/office/drawing/2014/main" id="{87AAF36B-F460-C7EC-2B43-CA2C5AD41A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7358" y="854242"/>
            <a:ext cx="10623884" cy="5322721"/>
          </a:xfrm>
          <a:prstGeom prst="rect">
            <a:avLst/>
          </a:prstGeom>
        </p:spPr>
      </p:pic>
    </p:spTree>
    <p:extLst>
      <p:ext uri="{BB962C8B-B14F-4D97-AF65-F5344CB8AC3E}">
        <p14:creationId xmlns:p14="http://schemas.microsoft.com/office/powerpoint/2010/main" val="381820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0"/>
            <a:ext cx="10131425" cy="845575"/>
          </a:xfrm>
        </p:spPr>
        <p:txBody>
          <a:bodyPr/>
          <a:lstStyle/>
          <a:p>
            <a:pPr algn="ctr"/>
            <a:r>
              <a:rPr lang="en-US" b="1" dirty="0">
                <a:latin typeface="+mn-lt"/>
              </a:rPr>
              <a:t>20 Literature papers (1 – 5)</a:t>
            </a:r>
            <a:endParaRPr lang="en-IN" b="1" dirty="0">
              <a:latin typeface="+mn-lt"/>
            </a:endParaRPr>
          </a:p>
        </p:txBody>
      </p:sp>
      <p:pic>
        <p:nvPicPr>
          <p:cNvPr id="7" name="Content Placeholder 6">
            <a:extLst>
              <a:ext uri="{FF2B5EF4-FFF2-40B4-BE49-F238E27FC236}">
                <a16:creationId xmlns:a16="http://schemas.microsoft.com/office/drawing/2014/main" id="{43CB80A5-7C5A-A715-ECD5-153DD5467B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89141"/>
            <a:ext cx="10515600" cy="4224306"/>
          </a:xfrm>
          <a:prstGeom prst="rect">
            <a:avLst/>
          </a:prstGeom>
        </p:spPr>
      </p:pic>
    </p:spTree>
    <p:extLst>
      <p:ext uri="{BB962C8B-B14F-4D97-AF65-F5344CB8AC3E}">
        <p14:creationId xmlns:p14="http://schemas.microsoft.com/office/powerpoint/2010/main" val="268685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786580"/>
          </a:xfrm>
        </p:spPr>
        <p:txBody>
          <a:bodyPr>
            <a:normAutofit/>
          </a:bodyPr>
          <a:lstStyle/>
          <a:p>
            <a:pPr algn="ctr"/>
            <a:r>
              <a:rPr lang="en-US" b="1" dirty="0">
                <a:latin typeface="+mn-lt"/>
              </a:rPr>
              <a:t>20 Literature papers (6 – 10)</a:t>
            </a:r>
            <a:endParaRPr lang="en-IN" b="1" dirty="0">
              <a:latin typeface="+mn-lt"/>
            </a:endParaRPr>
          </a:p>
        </p:txBody>
      </p:sp>
      <p:pic>
        <p:nvPicPr>
          <p:cNvPr id="7" name="Content Placeholder 6">
            <a:extLst>
              <a:ext uri="{FF2B5EF4-FFF2-40B4-BE49-F238E27FC236}">
                <a16:creationId xmlns:a16="http://schemas.microsoft.com/office/drawing/2014/main" id="{5E5D2884-D058-5647-9D4E-B94BC45A64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67733"/>
            <a:ext cx="10515600" cy="4267122"/>
          </a:xfrm>
          <a:prstGeom prst="rect">
            <a:avLst/>
          </a:prstGeom>
        </p:spPr>
      </p:pic>
    </p:spTree>
    <p:extLst>
      <p:ext uri="{BB962C8B-B14F-4D97-AF65-F5344CB8AC3E}">
        <p14:creationId xmlns:p14="http://schemas.microsoft.com/office/powerpoint/2010/main" val="50122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37008"/>
            <a:ext cx="10131425" cy="1456267"/>
          </a:xfrm>
        </p:spPr>
        <p:txBody>
          <a:bodyPr/>
          <a:lstStyle/>
          <a:p>
            <a:pPr algn="ctr"/>
            <a:r>
              <a:rPr lang="en-US" b="1" dirty="0">
                <a:latin typeface="+mn-lt"/>
              </a:rPr>
              <a:t>20 Literature papers (11 – 15)</a:t>
            </a:r>
            <a:endParaRPr lang="en-IN" b="1" dirty="0">
              <a:latin typeface="+mn-lt"/>
            </a:endParaRPr>
          </a:p>
        </p:txBody>
      </p:sp>
      <p:pic>
        <p:nvPicPr>
          <p:cNvPr id="7" name="Content Placeholder 6">
            <a:extLst>
              <a:ext uri="{FF2B5EF4-FFF2-40B4-BE49-F238E27FC236}">
                <a16:creationId xmlns:a16="http://schemas.microsoft.com/office/drawing/2014/main" id="{275B917B-653C-B50C-F622-F5AC4C5D0A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82201"/>
            <a:ext cx="10515600" cy="4238186"/>
          </a:xfrm>
          <a:prstGeom prst="rect">
            <a:avLst/>
          </a:prstGeom>
        </p:spPr>
      </p:pic>
    </p:spTree>
    <p:extLst>
      <p:ext uri="{BB962C8B-B14F-4D97-AF65-F5344CB8AC3E}">
        <p14:creationId xmlns:p14="http://schemas.microsoft.com/office/powerpoint/2010/main" val="1799218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mn-lt"/>
              </a:rPr>
              <a:t>20 Literature papers (16 – 20)</a:t>
            </a:r>
            <a:endParaRPr lang="en-IN" b="1" dirty="0">
              <a:latin typeface="+mn-lt"/>
            </a:endParaRPr>
          </a:p>
        </p:txBody>
      </p:sp>
      <p:pic>
        <p:nvPicPr>
          <p:cNvPr id="7" name="Content Placeholder 6">
            <a:extLst>
              <a:ext uri="{FF2B5EF4-FFF2-40B4-BE49-F238E27FC236}">
                <a16:creationId xmlns:a16="http://schemas.microsoft.com/office/drawing/2014/main" id="{7413306C-771F-7048-5822-06EB066D03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25569"/>
            <a:ext cx="10515600" cy="4151449"/>
          </a:xfrm>
          <a:prstGeom prst="rect">
            <a:avLst/>
          </a:prstGeom>
        </p:spPr>
      </p:pic>
    </p:spTree>
    <p:extLst>
      <p:ext uri="{BB962C8B-B14F-4D97-AF65-F5344CB8AC3E}">
        <p14:creationId xmlns:p14="http://schemas.microsoft.com/office/powerpoint/2010/main" val="394308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mn-lt"/>
              </a:rPr>
              <a:t> DATASET Description</a:t>
            </a:r>
            <a:endParaRPr lang="en-IN" b="1" dirty="0">
              <a:latin typeface="+mn-lt"/>
            </a:endParaRPr>
          </a:p>
        </p:txBody>
      </p:sp>
      <p:sp>
        <p:nvSpPr>
          <p:cNvPr id="3" name="Content Placeholder 2"/>
          <p:cNvSpPr>
            <a:spLocks noGrp="1"/>
          </p:cNvSpPr>
          <p:nvPr>
            <p:ph idx="1"/>
          </p:nvPr>
        </p:nvSpPr>
        <p:spPr>
          <a:xfrm>
            <a:off x="838200" y="1264920"/>
            <a:ext cx="10515600" cy="4912043"/>
          </a:xfrm>
        </p:spPr>
        <p:txBody>
          <a:bodyPr>
            <a:normAutofit/>
          </a:bodyPr>
          <a:lstStyle/>
          <a:p>
            <a:r>
              <a:rPr lang="en-IN" dirty="0"/>
              <a:t>The dataset is </a:t>
            </a:r>
            <a:r>
              <a:rPr lang="en-IN" dirty="0" err="1"/>
              <a:t>preprocessed</a:t>
            </a:r>
            <a:r>
              <a:rPr lang="en-IN" dirty="0"/>
              <a:t> to remove inconsistencies and prepare the data for machine-learning analysis. Exploratory Data Analysis (EDA) is performed to understand rating distributions, user activity, movie popularity, and genre preferences. Movie genre information is transformed into numerical features using </a:t>
            </a:r>
            <a:r>
              <a:rPr lang="en-IN" b="1" dirty="0"/>
              <a:t>TF-IDF (Term Frequency–Inverse Document Frequency)</a:t>
            </a:r>
            <a:r>
              <a:rPr lang="en-IN" dirty="0"/>
              <a:t>, and </a:t>
            </a:r>
            <a:r>
              <a:rPr lang="en-IN" b="1" dirty="0"/>
              <a:t>Cosine Similarity</a:t>
            </a:r>
            <a:r>
              <a:rPr lang="en-IN" dirty="0"/>
              <a:t> is used to identify similarities between movies.</a:t>
            </a:r>
          </a:p>
          <a:p>
            <a:r>
              <a:rPr lang="en-IN" dirty="0"/>
              <a:t>For preference prediction, user and movie features such as average ratings and rating counts are generated and provided to a </a:t>
            </a:r>
            <a:r>
              <a:rPr lang="en-IN" b="1" dirty="0"/>
              <a:t>Random Forest Regression</a:t>
            </a:r>
            <a:r>
              <a:rPr lang="en-IN" dirty="0"/>
              <a:t> model. The predicted preference scores are then used to rank unseen movies and generate personalized </a:t>
            </a:r>
            <a:r>
              <a:rPr lang="en-IN" b="1" dirty="0"/>
              <a:t>Top-N recommendations</a:t>
            </a:r>
            <a:r>
              <a:rPr lang="en-IN" dirty="0"/>
              <a:t> for users.</a:t>
            </a:r>
          </a:p>
        </p:txBody>
      </p:sp>
    </p:spTree>
    <p:extLst>
      <p:ext uri="{BB962C8B-B14F-4D97-AF65-F5344CB8AC3E}">
        <p14:creationId xmlns:p14="http://schemas.microsoft.com/office/powerpoint/2010/main" val="82634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 AND OBJECTIVE </a:t>
            </a:r>
          </a:p>
        </p:txBody>
      </p:sp>
      <p:sp>
        <p:nvSpPr>
          <p:cNvPr id="3" name="Content Placeholder 2"/>
          <p:cNvSpPr>
            <a:spLocks noGrp="1"/>
          </p:cNvSpPr>
          <p:nvPr>
            <p:ph idx="1"/>
          </p:nvPr>
        </p:nvSpPr>
        <p:spPr/>
        <p:txBody>
          <a:bodyPr>
            <a:normAutofit lnSpcReduction="10000"/>
          </a:bodyPr>
          <a:lstStyle/>
          <a:p>
            <a:pPr lvl="0"/>
            <a:r>
              <a:rPr lang="en-IN" b="1" dirty="0"/>
              <a:t>Problem Statement:</a:t>
            </a:r>
            <a:r>
              <a:rPr lang="en-IN" dirty="0"/>
              <a:t> Movie platforms contain thousands of movies, making it difficult for users to find content that matches their personal interests. Traditional popularity-based recommendation systems provide similar recommendations to many users and may not accurately capture individual preferences. Therefore, an intelligent machine-learning-based system is required to </a:t>
            </a:r>
            <a:r>
              <a:rPr lang="en-IN" dirty="0" err="1"/>
              <a:t>analyze</a:t>
            </a:r>
            <a:r>
              <a:rPr lang="en-IN" dirty="0"/>
              <a:t> user preferences and recommend relevant movies.</a:t>
            </a:r>
          </a:p>
          <a:p>
            <a:pPr lvl="0"/>
            <a:r>
              <a:rPr lang="en-IN" b="1" dirty="0"/>
              <a:t>Objective:</a:t>
            </a:r>
            <a:r>
              <a:rPr lang="en-IN" dirty="0"/>
              <a:t> Develop a personalized movie recommendation system using </a:t>
            </a:r>
            <a:r>
              <a:rPr lang="en-IN" b="1" dirty="0"/>
              <a:t>TF-IDF, Cosine Similarity, and Random Forest Regression</a:t>
            </a:r>
            <a:r>
              <a:rPr lang="en-IN" dirty="0"/>
              <a:t> to predict user preferences and generate </a:t>
            </a:r>
            <a:r>
              <a:rPr lang="en-IN" b="1" dirty="0"/>
              <a:t>Top-N personalized recommendations</a:t>
            </a:r>
            <a:r>
              <a:rPr lang="en-IN" dirty="0"/>
              <a:t>.</a:t>
            </a:r>
            <a:r>
              <a:rPr lang="en-US" dirty="0"/>
              <a:t>.</a:t>
            </a:r>
            <a:endParaRPr lang="en-IN" dirty="0"/>
          </a:p>
        </p:txBody>
      </p:sp>
    </p:spTree>
    <p:extLst>
      <p:ext uri="{BB962C8B-B14F-4D97-AF65-F5344CB8AC3E}">
        <p14:creationId xmlns:p14="http://schemas.microsoft.com/office/powerpoint/2010/main" val="155244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982706-1C4D-EB05-4548-653540CDF7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 y="304800"/>
            <a:ext cx="11628119" cy="6425381"/>
          </a:xfrm>
          <a:prstGeom prst="rect">
            <a:avLst/>
          </a:prstGeom>
        </p:spPr>
      </p:pic>
    </p:spTree>
    <p:extLst>
      <p:ext uri="{BB962C8B-B14F-4D97-AF65-F5344CB8AC3E}">
        <p14:creationId xmlns:p14="http://schemas.microsoft.com/office/powerpoint/2010/main" val="2777710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63479C2-2C35-0173-CC8A-25D60AC6B0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40" y="289560"/>
            <a:ext cx="11414760" cy="6035040"/>
          </a:xfrm>
          <a:prstGeom prst="rect">
            <a:avLst/>
          </a:prstGeom>
        </p:spPr>
      </p:pic>
    </p:spTree>
    <p:extLst>
      <p:ext uri="{BB962C8B-B14F-4D97-AF65-F5344CB8AC3E}">
        <p14:creationId xmlns:p14="http://schemas.microsoft.com/office/powerpoint/2010/main" val="103372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RESULTS - GRAPHS</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97208" y="2065867"/>
            <a:ext cx="5474493" cy="3649662"/>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0294" y="2065867"/>
            <a:ext cx="5869859" cy="3913239"/>
          </a:xfrm>
          <a:prstGeom prst="rect">
            <a:avLst/>
          </a:prstGeom>
        </p:spPr>
      </p:pic>
    </p:spTree>
    <p:extLst>
      <p:ext uri="{BB962C8B-B14F-4D97-AF65-F5344CB8AC3E}">
        <p14:creationId xmlns:p14="http://schemas.microsoft.com/office/powerpoint/2010/main" val="3186164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821" y="58069"/>
            <a:ext cx="10515600" cy="1325563"/>
          </a:xfrm>
        </p:spPr>
        <p:txBody>
          <a:bodyPr/>
          <a:lstStyle/>
          <a:p>
            <a:pPr algn="ctr"/>
            <a:r>
              <a:rPr lang="en-US" b="1" dirty="0">
                <a:latin typeface="+mn-lt"/>
              </a:rPr>
              <a:t>DISCUSSION</a:t>
            </a:r>
            <a:endParaRPr lang="en-IN" b="1" dirty="0">
              <a:latin typeface="+mn-lt"/>
            </a:endParaRPr>
          </a:p>
        </p:txBody>
      </p:sp>
      <p:sp>
        <p:nvSpPr>
          <p:cNvPr id="3" name="Content Placeholder 2"/>
          <p:cNvSpPr>
            <a:spLocks noGrp="1"/>
          </p:cNvSpPr>
          <p:nvPr>
            <p:ph idx="1"/>
          </p:nvPr>
        </p:nvSpPr>
        <p:spPr>
          <a:xfrm>
            <a:off x="838200" y="1032334"/>
            <a:ext cx="10515600" cy="5260182"/>
          </a:xfrm>
        </p:spPr>
        <p:txBody>
          <a:bodyPr>
            <a:normAutofit fontScale="85000" lnSpcReduction="20000"/>
          </a:bodyPr>
          <a:lstStyle/>
          <a:p>
            <a:pPr marL="0" indent="0">
              <a:buNone/>
            </a:pPr>
            <a:endParaRPr lang="en-IN" b="1" dirty="0"/>
          </a:p>
          <a:p>
            <a:r>
              <a:rPr lang="en-IN" dirty="0"/>
              <a:t>The performance of the recommendation system is evaluated using </a:t>
            </a:r>
            <a:r>
              <a:rPr lang="en-IN" b="1" dirty="0"/>
              <a:t>Mean Absolute Error (MAE), Root Mean Squared Error (RMSE), and R² Score</a:t>
            </a:r>
            <a:r>
              <a:rPr lang="en-IN" dirty="0"/>
              <a:t>. These metrics measure how accurately the Random Forest Regression model predicts user ratings and preferences.</a:t>
            </a:r>
          </a:p>
          <a:p>
            <a:r>
              <a:rPr lang="en-IN" dirty="0"/>
              <a:t>The recommendation system combines </a:t>
            </a:r>
            <a:r>
              <a:rPr lang="en-IN" b="1" dirty="0"/>
              <a:t>Random Forest Regression, TF-IDF, and Cosine Similarity</a:t>
            </a:r>
            <a:r>
              <a:rPr lang="en-IN" dirty="0"/>
              <a:t> to generate personalized movie recommendations. Random Forest predicts the user's potential rating for movies, while TF-IDF and Cosine Similarity help identify movies with similar genre-based characteristics.</a:t>
            </a:r>
          </a:p>
          <a:p>
            <a:r>
              <a:rPr lang="en-IN" dirty="0"/>
              <a:t>A lower </a:t>
            </a:r>
            <a:r>
              <a:rPr lang="en-IN" b="1" dirty="0"/>
              <a:t>MAE and RMSE</a:t>
            </a:r>
            <a:r>
              <a:rPr lang="en-IN" dirty="0"/>
              <a:t> indicates that the predicted ratings are closer to the actual user ratings, while a higher </a:t>
            </a:r>
            <a:r>
              <a:rPr lang="en-IN" b="1" dirty="0"/>
              <a:t>R² Score</a:t>
            </a:r>
            <a:r>
              <a:rPr lang="en-IN" dirty="0"/>
              <a:t> indicates that the model explains a larger portion of the variation in user preferences. The final predicted scores are ranked to generate </a:t>
            </a:r>
            <a:r>
              <a:rPr lang="en-IN" b="1" dirty="0"/>
              <a:t>Top-N personalized movie recommendations</a:t>
            </a:r>
            <a:r>
              <a:rPr lang="en-IN" dirty="0"/>
              <a:t>.</a:t>
            </a:r>
          </a:p>
          <a:p>
            <a:r>
              <a:rPr lang="en-IN" dirty="0"/>
              <a:t>Therefore, evaluating the system using multiple regression metrics provides a more meaningful assessment of recommendation performance than relying on a single metric. The combination of prediction accuracy and movie similarity enables the system to provide recommendations that are both personalized and relevant to individual users.</a:t>
            </a:r>
          </a:p>
        </p:txBody>
      </p:sp>
    </p:spTree>
    <p:extLst>
      <p:ext uri="{BB962C8B-B14F-4D97-AF65-F5344CB8AC3E}">
        <p14:creationId xmlns:p14="http://schemas.microsoft.com/office/powerpoint/2010/main" val="490643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latin typeface="+mn-lt"/>
              </a:rPr>
              <a:t>CONCLUSION</a:t>
            </a:r>
            <a:endParaRPr lang="en-IN" b="1" dirty="0">
              <a:latin typeface="+mn-lt"/>
            </a:endParaRPr>
          </a:p>
        </p:txBody>
      </p:sp>
      <p:sp>
        <p:nvSpPr>
          <p:cNvPr id="3" name="Content Placeholder 2"/>
          <p:cNvSpPr>
            <a:spLocks noGrp="1"/>
          </p:cNvSpPr>
          <p:nvPr>
            <p:ph idx="1"/>
          </p:nvPr>
        </p:nvSpPr>
        <p:spPr>
          <a:xfrm>
            <a:off x="838200" y="926433"/>
            <a:ext cx="10515600" cy="5566442"/>
          </a:xfrm>
        </p:spPr>
        <p:txBody>
          <a:bodyPr>
            <a:normAutofit fontScale="85000" lnSpcReduction="20000"/>
          </a:bodyPr>
          <a:lstStyle/>
          <a:p>
            <a:pPr marL="0" indent="0">
              <a:buNone/>
            </a:pPr>
            <a:endParaRPr lang="en-IN" b="1" dirty="0"/>
          </a:p>
          <a:p>
            <a:r>
              <a:rPr lang="en-IN" dirty="0"/>
              <a:t>The project successfully developed a </a:t>
            </a:r>
            <a:r>
              <a:rPr lang="en-IN" b="1" dirty="0"/>
              <a:t>machine-learning-based personalized movie recommendation system</a:t>
            </a:r>
            <a:r>
              <a:rPr lang="en-IN" dirty="0"/>
              <a:t> for predicting user preferences and generating relevant movie recommendations. </a:t>
            </a:r>
            <a:r>
              <a:rPr lang="en-IN" b="1" dirty="0"/>
              <a:t>Random Forest Regression, TF-IDF, and Cosine Similarity</a:t>
            </a:r>
            <a:r>
              <a:rPr lang="en-IN" dirty="0"/>
              <a:t> were implemented as the core techniques of the system.</a:t>
            </a:r>
          </a:p>
          <a:p>
            <a:r>
              <a:rPr lang="en-IN" dirty="0"/>
              <a:t>The </a:t>
            </a:r>
            <a:r>
              <a:rPr lang="en-IN" b="1" dirty="0" err="1"/>
              <a:t>MovieLens</a:t>
            </a:r>
            <a:r>
              <a:rPr lang="en-IN" b="1" dirty="0"/>
              <a:t> dataset</a:t>
            </a:r>
            <a:r>
              <a:rPr lang="en-IN" dirty="0"/>
              <a:t> containing </a:t>
            </a:r>
            <a:r>
              <a:rPr lang="en-IN" b="1" dirty="0"/>
              <a:t>9,742 movies, 100,836 ratings, and 610 users</a:t>
            </a:r>
            <a:r>
              <a:rPr lang="en-IN" dirty="0"/>
              <a:t> was </a:t>
            </a:r>
            <a:r>
              <a:rPr lang="en-IN" dirty="0" err="1"/>
              <a:t>analyzed</a:t>
            </a:r>
            <a:r>
              <a:rPr lang="en-IN" dirty="0"/>
              <a:t> using Exploratory Data Analysis (EDA) to understand rating patterns, movie popularity, user activity, and genre preferences. The system uses TF-IDF to represent movie genres and Cosine Similarity to identify similar movies, while Random Forest Regression predicts potential user ratings.</a:t>
            </a:r>
          </a:p>
          <a:p>
            <a:r>
              <a:rPr lang="en-IN" dirty="0"/>
              <a:t>The recommendation model is evaluated using </a:t>
            </a:r>
            <a:r>
              <a:rPr lang="en-IN" b="1" dirty="0"/>
              <a:t>MAE, RMSE, and R² Score</a:t>
            </a:r>
            <a:r>
              <a:rPr lang="en-IN" dirty="0"/>
              <a:t>, which provide a comprehensive understanding of prediction accuracy. The predicted preference scores are ranked to generate </a:t>
            </a:r>
            <a:r>
              <a:rPr lang="en-IN" b="1" dirty="0"/>
              <a:t>Top-N personalized movie recommendations</a:t>
            </a:r>
            <a:r>
              <a:rPr lang="en-IN" dirty="0"/>
              <a:t>.</a:t>
            </a:r>
          </a:p>
          <a:p>
            <a:r>
              <a:rPr lang="en-IN" dirty="0"/>
              <a:t>Overall, the developed system demonstrates how machine learning and content-based techniques can be combined to provide personalized recommendations. The system provides a foundation for future improvements such as </a:t>
            </a:r>
            <a:r>
              <a:rPr lang="en-IN" b="1" dirty="0"/>
              <a:t>hybrid recommendation methods, real-time user feedback, deep learning, and explainable AI</a:t>
            </a:r>
            <a:r>
              <a:rPr lang="en-IN" dirty="0"/>
              <a:t>.</a:t>
            </a:r>
          </a:p>
        </p:txBody>
      </p:sp>
    </p:spTree>
    <p:extLst>
      <p:ext uri="{BB962C8B-B14F-4D97-AF65-F5344CB8AC3E}">
        <p14:creationId xmlns:p14="http://schemas.microsoft.com/office/powerpoint/2010/main" val="1247347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mn-lt"/>
              </a:rPr>
              <a:t>FUTURE SCOPE</a:t>
            </a:r>
            <a:endParaRPr lang="en-IN" b="1" dirty="0">
              <a:latin typeface="+mn-lt"/>
            </a:endParaRPr>
          </a:p>
        </p:txBody>
      </p:sp>
      <p:sp>
        <p:nvSpPr>
          <p:cNvPr id="3" name="Content Placeholder 2"/>
          <p:cNvSpPr>
            <a:spLocks noGrp="1"/>
          </p:cNvSpPr>
          <p:nvPr>
            <p:ph idx="1"/>
          </p:nvPr>
        </p:nvSpPr>
        <p:spPr>
          <a:xfrm>
            <a:off x="838200" y="1528011"/>
            <a:ext cx="10515600" cy="4648952"/>
          </a:xfrm>
        </p:spPr>
        <p:txBody>
          <a:bodyPr>
            <a:normAutofit lnSpcReduction="10000"/>
          </a:bodyPr>
          <a:lstStyle/>
          <a:p>
            <a:r>
              <a:rPr lang="en-IN" dirty="0"/>
              <a:t>Additional </a:t>
            </a:r>
            <a:r>
              <a:rPr lang="en-IN" dirty="0" err="1"/>
              <a:t>behavioral</a:t>
            </a:r>
            <a:r>
              <a:rPr lang="en-IN" dirty="0"/>
              <a:t> features such as </a:t>
            </a:r>
            <a:r>
              <a:rPr lang="en-IN" b="1" dirty="0"/>
              <a:t>user rating patterns, preferred genres, movie popularity, viewing history, and interaction frequency</a:t>
            </a:r>
            <a:r>
              <a:rPr lang="en-IN" dirty="0"/>
              <a:t> can be incorporated to improve personalization. Hybrid recommendation techniques combining </a:t>
            </a:r>
            <a:r>
              <a:rPr lang="en-IN" b="1" dirty="0"/>
              <a:t>content-based filtering and collaborative filtering</a:t>
            </a:r>
            <a:r>
              <a:rPr lang="en-IN" dirty="0"/>
              <a:t> can also be implemented to provide more accurate recommendations.</a:t>
            </a:r>
          </a:p>
          <a:p>
            <a:r>
              <a:rPr lang="en-IN" dirty="0"/>
              <a:t>Furthermore, the system can be enhanced with </a:t>
            </a:r>
            <a:r>
              <a:rPr lang="en-IN" b="1" dirty="0"/>
              <a:t>explainable AI</a:t>
            </a:r>
            <a:r>
              <a:rPr lang="en-IN" dirty="0"/>
              <a:t>, allowing users to understand why a particular movie was recommended. Continuous model learning, real-time feedback, web or mobile application integration, and </a:t>
            </a:r>
            <a:r>
              <a:rPr lang="en-IN" b="1" dirty="0"/>
              <a:t>cloud deployment</a:t>
            </a:r>
            <a:r>
              <a:rPr lang="en-IN" dirty="0"/>
              <a:t> can also be introduced to create a scalable and intelligent personalized recommendation platform.</a:t>
            </a:r>
          </a:p>
        </p:txBody>
      </p:sp>
    </p:spTree>
    <p:extLst>
      <p:ext uri="{BB962C8B-B14F-4D97-AF65-F5344CB8AC3E}">
        <p14:creationId xmlns:p14="http://schemas.microsoft.com/office/powerpoint/2010/main" val="3841595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a:t>THANK YOU </a:t>
            </a:r>
            <a:endParaRPr lang="en-IN" dirty="0"/>
          </a:p>
        </p:txBody>
      </p:sp>
    </p:spTree>
    <p:extLst>
      <p:ext uri="{BB962C8B-B14F-4D97-AF65-F5344CB8AC3E}">
        <p14:creationId xmlns:p14="http://schemas.microsoft.com/office/powerpoint/2010/main" val="2600568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619</TotalTime>
  <Words>1313</Words>
  <Application>Microsoft Office PowerPoint</Application>
  <PresentationFormat>Widescreen</PresentationFormat>
  <Paragraphs>63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Personalized Recommendation System using Random Forest Regression, TF-IDF, and Cosine Similarity.</vt:lpstr>
      <vt:lpstr>CONTENTS</vt:lpstr>
      <vt:lpstr>ABSTRACT</vt:lpstr>
      <vt:lpstr>INTRODUCTION</vt:lpstr>
      <vt:lpstr>REQUIREMENT ANALYSIS </vt:lpstr>
      <vt:lpstr>20 Literature papers (1 – 5)</vt:lpstr>
      <vt:lpstr>20 Literature papers (6 – 10)</vt:lpstr>
      <vt:lpstr>20 Literature papers (11 – 15)</vt:lpstr>
      <vt:lpstr>20 Literature papers (16 – 20)</vt:lpstr>
      <vt:lpstr> DATASET Description</vt:lpstr>
      <vt:lpstr>PROBLEM STATEMENT AND OBJECTIVE </vt:lpstr>
      <vt:lpstr>PowerPoint Presentation</vt:lpstr>
      <vt:lpstr>PowerPoint Presentation</vt:lpstr>
      <vt:lpstr>RESULTS - GRAPHS</vt:lpstr>
      <vt:lpstr>DISCUSSION</vt:lpstr>
      <vt:lpstr>CONCLUSION</vt:lpstr>
      <vt:lpstr>FUTURE SCOPE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Suraj Chalamalla</cp:lastModifiedBy>
  <cp:revision>48</cp:revision>
  <dcterms:created xsi:type="dcterms:W3CDTF">2026-06-10T13:51:49Z</dcterms:created>
  <dcterms:modified xsi:type="dcterms:W3CDTF">2026-10-04T15:19:23Z</dcterms:modified>
</cp:coreProperties>
</file>